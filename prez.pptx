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98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14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03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58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4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36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8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8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45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15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075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599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1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284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291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929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86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819DAD-BB0C-44B5-94C1-756DC226E1A3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907D46-3909-4F23-87D0-CC1B3DF41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31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3AC7B-1DBE-3FF8-DE18-E98C4B55B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611985"/>
            <a:ext cx="6815669" cy="1774680"/>
          </a:xfrm>
        </p:spPr>
        <p:txBody>
          <a:bodyPr/>
          <a:lstStyle/>
          <a:p>
            <a:r>
              <a:rPr lang="ru-RU" sz="3600" b="1" dirty="0"/>
              <a:t>Процедура запуска процесса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394AFD-7CA8-F55D-1CD5-9192463FE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5447" y="4534293"/>
            <a:ext cx="3512620" cy="444106"/>
          </a:xfrm>
        </p:spPr>
        <p:txBody>
          <a:bodyPr/>
          <a:lstStyle/>
          <a:p>
            <a:r>
              <a:rPr lang="ru-RU" dirty="0"/>
              <a:t>Кочетов Дмитрий БПИ-241</a:t>
            </a:r>
          </a:p>
        </p:txBody>
      </p:sp>
    </p:spTree>
    <p:extLst>
      <p:ext uri="{BB962C8B-B14F-4D97-AF65-F5344CB8AC3E}">
        <p14:creationId xmlns:p14="http://schemas.microsoft.com/office/powerpoint/2010/main" val="387757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A545D-41CC-DE31-5326-BC5AA0F4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Введение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59B9B2-5A40-D3A0-F223-2A310EA6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Запуск процесса — это фундаментальная операция любой современной операционной системы. Без неё невозможно выполнение ни одной программы, будь то системная служба или пользовательское приложение. Понимание того, как именно ОС создаёт и инициализирует процесс, важно для системных программистов, администраторов и всех, кто интересуется внутренним устройством компьютера. Сегодня мы подробно разберём, из каких этапов состоит процедура запуска процесса и какие механизмы при этом задействуются.</a:t>
            </a:r>
          </a:p>
        </p:txBody>
      </p:sp>
    </p:spTree>
    <p:extLst>
      <p:ext uri="{BB962C8B-B14F-4D97-AF65-F5344CB8AC3E}">
        <p14:creationId xmlns:p14="http://schemas.microsoft.com/office/powerpoint/2010/main" val="62392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0D23D-6598-F530-4103-D5A87B17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Инициация запуска: пользователь и система</a:t>
            </a:r>
            <a:br>
              <a:rPr lang="ru-RU" sz="3200" b="1" dirty="0"/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9A3016-5092-5EF5-CA78-45757174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Запуск процесса может происходить по разным причинам. Чаще всего это происходит по команде пользователя: вы дважды щёлкаете по иконке или вводите команду в терминале. Однако многие процессы стартуют автоматически при загрузке системы — это системные службы, драйверы и программы из автозагрузки. Важно различать интерактивный запуск, когда процесс взаимодействует с пользователем, и фоновый, когда программа работает незаметно, выполняя служебные задачи.</a:t>
            </a:r>
          </a:p>
        </p:txBody>
      </p:sp>
    </p:spTree>
    <p:extLst>
      <p:ext uri="{BB962C8B-B14F-4D97-AF65-F5344CB8AC3E}">
        <p14:creationId xmlns:p14="http://schemas.microsoft.com/office/powerpoint/2010/main" val="408947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EBB58-830B-3896-3C7C-E98BF172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Поиск и подготовка исполняемого файла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6CE82-7DA4-414D-765D-009B328F8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Когда поступает команда на запуск, операционная система должна найти нужный исполняемый файл. Для этого она просматривает каталоги, перечисленные в переменной окружения </a:t>
            </a:r>
            <a:r>
              <a:rPr lang="ru-RU" i="1" dirty="0"/>
              <a:t>PATH</a:t>
            </a:r>
            <a:r>
              <a:rPr lang="ru-RU" dirty="0"/>
              <a:t>, а также проверяет текущий рабочий каталог. После нахождения файла ОС проверяет права доступа: есть ли у пользователя разрешение на выполнение этой программы. Если всё в порядке, начинается загрузка файла в оперативную память.</a:t>
            </a:r>
          </a:p>
        </p:txBody>
      </p:sp>
    </p:spTree>
    <p:extLst>
      <p:ext uri="{BB962C8B-B14F-4D97-AF65-F5344CB8AC3E}">
        <p14:creationId xmlns:p14="http://schemas.microsoft.com/office/powerpoint/2010/main" val="345409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8CBAE-8558-22F6-0EBC-FD6F2C41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Создание дескриптора процесса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D72B0-69CF-982A-43D2-77B3D41B7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управления новым процессом операционная система создаёт его </a:t>
            </a:r>
            <a:r>
              <a:rPr lang="ru-RU" b="1" dirty="0"/>
              <a:t>дескриптор</a:t>
            </a:r>
            <a:r>
              <a:rPr lang="ru-RU" dirty="0"/>
              <a:t> — специальную структуру данных, своего рода «паспорт». В этот момент процессу присваивается уникальный идентификатор — </a:t>
            </a:r>
            <a:r>
              <a:rPr lang="ru-RU" b="1" i="1" dirty="0"/>
              <a:t>PID</a:t>
            </a:r>
            <a:r>
              <a:rPr lang="ru-RU" dirty="0"/>
              <a:t> (</a:t>
            </a:r>
            <a:r>
              <a:rPr lang="ru-RU" i="1" dirty="0"/>
              <a:t>Process ID</a:t>
            </a:r>
            <a:r>
              <a:rPr lang="ru-RU" dirty="0"/>
              <a:t>). В </a:t>
            </a:r>
            <a:r>
              <a:rPr lang="ru-RU" i="1" dirty="0"/>
              <a:t>Linux</a:t>
            </a:r>
            <a:r>
              <a:rPr lang="ru-RU" dirty="0"/>
              <a:t> для этого используется структура </a:t>
            </a:r>
            <a:r>
              <a:rPr lang="ru-RU" i="1" dirty="0" err="1"/>
              <a:t>task_struct</a:t>
            </a:r>
            <a:r>
              <a:rPr lang="ru-RU" dirty="0"/>
              <a:t>, а в </a:t>
            </a:r>
            <a:r>
              <a:rPr lang="ru-RU" i="1" dirty="0"/>
              <a:t>Windows</a:t>
            </a:r>
            <a:r>
              <a:rPr lang="ru-RU" dirty="0"/>
              <a:t> — объект процесса ядра. В дескрипторе инициализируются базовые параметры: состояние процесса (обычно «новый»), приоритет, информация о родительском процессе и ссылки на ресурсы.</a:t>
            </a:r>
          </a:p>
        </p:txBody>
      </p:sp>
    </p:spTree>
    <p:extLst>
      <p:ext uri="{BB962C8B-B14F-4D97-AF65-F5344CB8AC3E}">
        <p14:creationId xmlns:p14="http://schemas.microsoft.com/office/powerpoint/2010/main" val="415685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3758B-88D3-11C8-7948-0E7FBB09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Выделение ресурсов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9F0DD-ACED-1A4E-9510-4D7BD116E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/>
              <a:t>Новый процесс не может существовать в вакууме. Операционная система выделяет ему необходимые ресурсы:</a:t>
            </a:r>
          </a:p>
          <a:p>
            <a:pPr fontAlgn="base"/>
            <a:r>
              <a:rPr lang="ru-RU" sz="2000" b="1" dirty="0"/>
              <a:t>Адресное пространство:</a:t>
            </a:r>
            <a:r>
              <a:rPr lang="ru-RU" sz="2000" dirty="0"/>
              <a:t> резервируется область памяти для кода, данных, стека и кучи.</a:t>
            </a:r>
          </a:p>
          <a:p>
            <a:pPr fontAlgn="base"/>
            <a:r>
              <a:rPr lang="ru-RU" sz="2000" b="1" dirty="0"/>
              <a:t>Стек:</a:t>
            </a:r>
            <a:r>
              <a:rPr lang="ru-RU" sz="2000" dirty="0"/>
              <a:t> создаётся стек для хранения локальных переменных и адресов возврата функций.</a:t>
            </a:r>
          </a:p>
          <a:p>
            <a:pPr fontAlgn="base"/>
            <a:r>
              <a:rPr lang="ru-RU" sz="2000" b="1" dirty="0"/>
              <a:t>Стандартные потоки:</a:t>
            </a:r>
            <a:r>
              <a:rPr lang="ru-RU" sz="2000" dirty="0"/>
              <a:t> открываются стандартные потоки ввода (</a:t>
            </a:r>
            <a:r>
              <a:rPr lang="ru-RU" sz="2000" i="1" dirty="0" err="1"/>
              <a:t>stdin</a:t>
            </a:r>
            <a:r>
              <a:rPr lang="ru-RU" sz="2000" dirty="0"/>
              <a:t>), вывода (</a:t>
            </a:r>
            <a:r>
              <a:rPr lang="ru-RU" sz="2000" i="1" dirty="0" err="1"/>
              <a:t>stdout</a:t>
            </a:r>
            <a:r>
              <a:rPr lang="ru-RU" sz="2000" dirty="0"/>
              <a:t>) и ошибок (</a:t>
            </a:r>
            <a:r>
              <a:rPr lang="ru-RU" sz="2000" i="1" dirty="0" err="1"/>
              <a:t>stderr</a:t>
            </a:r>
            <a:r>
              <a:rPr lang="ru-RU" sz="2000" dirty="0"/>
              <a:t>).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8320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1E250-80DE-1DFC-86D6-6CAB0D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Формирование контекста процесса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3AC532-6B86-23F2-C1D5-823297E32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Контекст процесса — это «снимок» его состояния, необходимый для начала выполнения. ОС формирует начальное содержимое регистров процессора, устанавливает указатель стека и, самое главное, задаёт </a:t>
            </a:r>
            <a:r>
              <a:rPr lang="ru-RU" b="1" dirty="0"/>
              <a:t>точку входа</a:t>
            </a:r>
            <a:r>
              <a:rPr lang="ru-RU" dirty="0"/>
              <a:t> (</a:t>
            </a:r>
            <a:r>
              <a:rPr lang="ru-RU" i="1" dirty="0" err="1"/>
              <a:t>entry</a:t>
            </a:r>
            <a:r>
              <a:rPr lang="ru-RU" i="1" dirty="0"/>
              <a:t> </a:t>
            </a:r>
            <a:r>
              <a:rPr lang="ru-RU" i="1" dirty="0" err="1"/>
              <a:t>point</a:t>
            </a:r>
            <a:r>
              <a:rPr lang="ru-RU" dirty="0"/>
              <a:t>) — адрес первой инструкции, с которой начнётся выполнение программы. Также в память копируются аргументы командной строки и переменные окружения, переданные при запуске.</a:t>
            </a:r>
          </a:p>
        </p:txBody>
      </p:sp>
    </p:spTree>
    <p:extLst>
      <p:ext uri="{BB962C8B-B14F-4D97-AF65-F5344CB8AC3E}">
        <p14:creationId xmlns:p14="http://schemas.microsoft.com/office/powerpoint/2010/main" val="160455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4A214-0074-47A2-D8B0-5FBC07C5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Включение процесса в систему управления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81201A-3000-F81E-6DAD-F3DFFBC6D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После того как дескриптор создан и контекст сформирован, процесс готов к работе. Операционная система добавляет его в очередь планировщика и переводит в состояние «готов к выполнению». Теперь планировщик сможет выделить ему процессорное время, когда наступит его очередь.</a:t>
            </a:r>
          </a:p>
        </p:txBody>
      </p:sp>
    </p:spTree>
    <p:extLst>
      <p:ext uri="{BB962C8B-B14F-4D97-AF65-F5344CB8AC3E}">
        <p14:creationId xmlns:p14="http://schemas.microsoft.com/office/powerpoint/2010/main" val="84541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2474F-0767-92B2-C7EF-98EA18E2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Практические примеры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5FB88-E17B-6DAB-5BEF-9292F4BD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/>
              <a:t>В реальных системах запуск процесса реализован через специальные системные вызовы.</a:t>
            </a:r>
          </a:p>
          <a:p>
            <a:pPr fontAlgn="base"/>
            <a:r>
              <a:rPr lang="ru-RU" sz="2000" dirty="0"/>
              <a:t>В </a:t>
            </a:r>
            <a:r>
              <a:rPr lang="ru-RU" sz="2000" i="1" dirty="0"/>
              <a:t>Unix</a:t>
            </a:r>
            <a:r>
              <a:rPr lang="ru-RU" sz="2000" dirty="0"/>
              <a:t>-подобных системах (включая </a:t>
            </a:r>
            <a:r>
              <a:rPr lang="ru-RU" sz="2000" i="1" dirty="0"/>
              <a:t>Linux</a:t>
            </a:r>
            <a:r>
              <a:rPr lang="ru-RU" sz="2000" dirty="0"/>
              <a:t>) используется классическая связка: сначала </a:t>
            </a:r>
            <a:r>
              <a:rPr lang="ru-RU" sz="2000" i="1" dirty="0" err="1"/>
              <a:t>fork</a:t>
            </a:r>
            <a:r>
              <a:rPr lang="ru-RU" sz="2000" i="1" dirty="0"/>
              <a:t>()</a:t>
            </a:r>
            <a:r>
              <a:rPr lang="ru-RU" sz="2000" dirty="0"/>
              <a:t> создаёт копию текущего процесса, а затем </a:t>
            </a:r>
            <a:r>
              <a:rPr lang="ru-RU" sz="2000" i="1" dirty="0" err="1"/>
              <a:t>exec</a:t>
            </a:r>
            <a:r>
              <a:rPr lang="ru-RU" sz="2000" i="1" dirty="0"/>
              <a:t>()</a:t>
            </a:r>
            <a:r>
              <a:rPr lang="ru-RU" sz="2000" dirty="0"/>
              <a:t> заменяет код дочернего процесса новой программой.</a:t>
            </a:r>
          </a:p>
          <a:p>
            <a:pPr fontAlgn="base"/>
            <a:r>
              <a:rPr lang="ru-RU" sz="2000" dirty="0"/>
              <a:t>В </a:t>
            </a:r>
            <a:r>
              <a:rPr lang="ru-RU" sz="2000" i="1" dirty="0"/>
              <a:t>Windows</a:t>
            </a:r>
            <a:r>
              <a:rPr lang="ru-RU" sz="2000" dirty="0"/>
              <a:t> для этого служит функция </a:t>
            </a:r>
            <a:r>
              <a:rPr lang="ru-RU" sz="2000" i="1" dirty="0" err="1"/>
              <a:t>CreateProcess</a:t>
            </a:r>
            <a:r>
              <a:rPr lang="ru-RU" sz="2000" i="1" dirty="0"/>
              <a:t>()</a:t>
            </a:r>
            <a:r>
              <a:rPr lang="ru-RU" sz="2000" dirty="0"/>
              <a:t>, которая выполняет все этапы создания и инициализации за один вызов.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3997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BFC82-0925-1B82-81D6-55A7AED7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Заключение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2D3ADC-260B-B1DF-0737-5AD94EFA8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Процедура запуска процесса — это сложный многоэтапный процесс, включающий поиск файла, создание дескриптора, выделение ресурсов и формирование контекста. </a:t>
            </a:r>
            <a:r>
              <a:rPr lang="ru-RU"/>
              <a:t>От корректности выполнения каждого этапа зависит стабильность и безопасность всей операционной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218924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585</Words>
  <Application>Microsoft Office PowerPoint</Application>
  <PresentationFormat>Широкоэкранный</PresentationFormat>
  <Paragraphs>25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Натуральные материалы</vt:lpstr>
      <vt:lpstr>Процедура запуска процесса </vt:lpstr>
      <vt:lpstr>Введение </vt:lpstr>
      <vt:lpstr>Инициация запуска: пользователь и система </vt:lpstr>
      <vt:lpstr>Поиск и подготовка исполняемого файла </vt:lpstr>
      <vt:lpstr>Создание дескриптора процесса </vt:lpstr>
      <vt:lpstr>Выделение ресурсов </vt:lpstr>
      <vt:lpstr>Формирование контекста процесса </vt:lpstr>
      <vt:lpstr>Включение процесса в систему управления </vt:lpstr>
      <vt:lpstr>Практические примеры 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 Kochetov</dc:creator>
  <cp:lastModifiedBy>Dmitriy Kochetov</cp:lastModifiedBy>
  <cp:revision>1</cp:revision>
  <dcterms:created xsi:type="dcterms:W3CDTF">2026-03-23T15:05:25Z</dcterms:created>
  <dcterms:modified xsi:type="dcterms:W3CDTF">2026-03-23T15:09:45Z</dcterms:modified>
</cp:coreProperties>
</file>